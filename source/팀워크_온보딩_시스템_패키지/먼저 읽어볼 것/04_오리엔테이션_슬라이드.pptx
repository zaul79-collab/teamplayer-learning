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환영합니다. 이 오리엔테이션은 새 구성원이 혼자서 세 덕목을 학습·연습·측정하도록 돕는 자기주도 과정의 시작점입니다. 인증은 완성이 아니라 '습관을 시작할 준비'를 확인하는 출발선임을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팀워크는 선택이자 전략적 결정입니다. 막연히 방치하지 말고 구체적 행동으로 정의한다는 점, 그리고 한 덕목만 부족해도 팀에 문제가 생긴다는 점을 사례로 설명하세요.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덕목을 한 장으로 요약합니다. 특히 영리함은 IQ가 아니라 대인관계 영리함이라는 점, 겸손이 가장 근본이라는 점을 분명히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벤다이어그램으로 세 덕목의 조합을 보여줍니다. 중심이 이상형이며, 가장 위험한 조합(노련한 정치가)을 짚으세요. 유형 이름은 자기인식·코칭용이라는 윤리 원칙도 미리 언급합니다.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7유형 매트릭스를 보여주며, 겸손을 먼저 본다는 분류의 핵심을 설명합니다. 노련한 정치가가 왜 가장 위험한지 강조하세요. 실재 동료에게 유형 이름을 붙이지 않는다는 점을 반드시 덧붙입니다.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윤리 가드레일을 네 가지로 정리합니다. 정서적으로 힘든 신호가 보이면 시스템이 상담자 역할을 하지 않고 담당자/HR로 연결한다는 점을 강조하세요. 이 원칙들은 게이트 핵심 문항으로도 검증됩니다.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학습에 사용할 자료들을 소개합니다. 연습은 무제한·비기록이고 게이트는 다른 변형으로 나오며 자기진단은 정답이 없다는 차이를 분명히 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여정 전체를 한 장으로 봅니다. M2 겸손과 M5 7유형은 핵심 모듈로 100% 통과가 필요합니다. 종료 기준은 날짜가 아니라 인증 통과라는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자기진단은 점수를 매기지 않으며, 정직하게 표시한 뒤 상대적 약점 한 가지를 개인 개발 초점으로 삼는 것이 목적임을 설명하세요. 덕목은 정량화되지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슬라이드입니다. 세 가지 첫 단계를 안내하고, 인증 후 곧바로 현업에서 실천한다는 점으로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58368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팀워크 온보딩 오리엔테이션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58368" y="2788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겸손 · 갈망 · 영리함 — 자기주도 학습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3657600"/>
            <a:ext cx="960120" cy="960120"/>
          </a:xfrm>
          <a:prstGeom prst="ellipse">
            <a:avLst/>
          </a:prstGeom>
          <a:solidFill>
            <a:srgbClr val="2E4A78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3657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겸손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801368" y="3657600"/>
            <a:ext cx="960120" cy="96012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8" name="Text 6"/>
          <p:cNvSpPr/>
          <p:nvPr/>
        </p:nvSpPr>
        <p:spPr>
          <a:xfrm>
            <a:off x="1801368" y="3657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갈망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944368" y="3657600"/>
            <a:ext cx="960120" cy="96012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365760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영리함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8368" y="473659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패트릭 렌시오니 《최고의 팀은 왜 기본에 충실한가》 기반 · 진행: 온보딩 담당자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'팀 플레이어'인가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572768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72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00200" y="149961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막연함을 행동으로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'팀워크'를 구체적 덕목과 관찰 가능한 행동으로 바꾼다.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624328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24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00200" y="255117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성패의 예측 변수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600200" y="28803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겸손·갈망·영리함은 팀 성패를 높은 정확도로 가른다.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474720"/>
            <a:ext cx="786384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675888"/>
            <a:ext cx="512064" cy="512064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6758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00200" y="3602736"/>
            <a:ext cx="6675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하나만 부족해도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00200" y="393192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덕목 중 하나만 부족해도 팀 구축을 충분히 방해한다.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핵심(100%) · 게이트 80% · 스프린트 3영업일  →  인증 = 습관 시작  →  착근 3~4주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덕목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0020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914400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겸손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근본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타인을 칭찬하고 공을 나눈다. '자신감 있는 겸손' — 과대·과소평가 모두 안 함.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행동  </a:t>
            </a:r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칭찬·실수/약점 인정·몫 나눔·사과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55848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0168" y="1600200"/>
            <a:ext cx="640080" cy="64008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2" name="Text 10"/>
          <p:cNvSpPr/>
          <p:nvPr/>
        </p:nvSpPr>
        <p:spPr>
          <a:xfrm>
            <a:off x="363016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3" name="Text 11"/>
          <p:cNvSpPr/>
          <p:nvPr/>
        </p:nvSpPr>
        <p:spPr>
          <a:xfrm>
            <a:off x="3630168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07408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 최난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할 일을 스스로 찾는다. '관리 가능하고 지속 가능한 헌신'.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11880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행동  </a:t>
            </a:r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 이상·기여 기회·책임감·열정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71616" y="1325880"/>
            <a:ext cx="2560320" cy="3200400"/>
          </a:xfrm>
          <a:prstGeom prst="roundRect">
            <a:avLst>
              <a:gd name="adj" fmla="val 2857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45936" y="1600200"/>
            <a:ext cx="640080" cy="64008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9" name="Text 17"/>
          <p:cNvSpPr/>
          <p:nvPr/>
        </p:nvSpPr>
        <p:spPr>
          <a:xfrm>
            <a:off x="63459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0" name="Text 18"/>
          <p:cNvSpPr/>
          <p:nvPr/>
        </p:nvSpPr>
        <p:spPr>
          <a:xfrm>
            <a:off x="6345936" y="1600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영리함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123176" y="17373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IQ 아님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27648" y="242316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대인관계 영리함 = '타인에 대한 상식'. 양날의 검.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27648" y="3840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5A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행동  </a:t>
            </a:r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감정 이해·공감·경청·영향 인식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핵심(100%) · 게이트 80% · 스프린트 3영업일  →  인증 = 습관 시작  →  착근 3~4주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이상적인 팀 플레이어 모델</a:t>
            </a:r>
            <a:endParaRPr lang="en-US" sz="3000" dirty="0"/>
          </a:p>
        </p:txBody>
      </p:sp>
      <p:pic>
        <p:nvPicPr>
          <p:cNvPr id="3" name="Image 0" descr="/home/claude/onboarding/06_도해/01_벤다이어그램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051560"/>
            <a:ext cx="4526280" cy="3438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덕목이 만나는 중심 = 이상적인 팀 플레이어. 겸손 없는 갈망+영리함 = ‘노련한 정치가’(가장 위험).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7유형 지도</a:t>
            </a:r>
            <a:endParaRPr lang="en-US" sz="3000" dirty="0"/>
          </a:p>
        </p:txBody>
      </p:sp>
      <p:pic>
        <p:nvPicPr>
          <p:cNvPr id="3" name="Image 0" descr="/home/claude/onboarding/06_도해/02_7유형_매트릭스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115568"/>
            <a:ext cx="4791456" cy="3319272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0" y="1371600"/>
            <a:ext cx="3154680" cy="2788920"/>
          </a:xfrm>
          <a:prstGeom prst="roundRect">
            <a:avLst>
              <a:gd name="adj" fmla="val 2623"/>
            </a:avLst>
          </a:prstGeom>
          <a:solidFill>
            <a:srgbClr val="FBEFE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5650992" y="15544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34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가장 위험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650992" y="2011680"/>
            <a:ext cx="2834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노련한 정치가
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갈망+영리함이되 겸손 결핍. 겸손한 척 포장하고 동료를 조종. 가려내기 가장 어렵고 승진 쉬움.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핵심(100%) · 게이트 80% · 스프린트 3영업일  →  인증 = 습관 시작  →  착근 3~4주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프레임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600200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481328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자기개발 전용 · 낙인 금지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96112" y="20848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유형 이름은 자기인식·코칭용. 실재 동료에게 붙이지 않는다.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1600200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550408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기반 · 심리치료 아님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965192" y="208483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'~한 듯 행동하기' 수준. 트라우마·자기 라벨링을 요구하지 않는다.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8132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한계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96112" y="36393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사람의 '겸손/인성 점수'를 산출·시각화하지 않는다.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926080"/>
            <a:ext cx="3886200" cy="1371600"/>
          </a:xfrm>
          <a:prstGeom prst="roundRect">
            <a:avLst>
              <a:gd name="adj" fmla="val 5333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50408" y="31089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· 공개 신중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965192" y="363931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통찰용. 공개 등수·망신 금지. 피드백은 옵트인·친절.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핵심(100%) · 게이트 80% · 스프린트 3영업일  →  인증 = 습관 시작  →  착근 3~4주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자료가 있나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258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41248" y="1554480"/>
            <a:ext cx="457200" cy="45720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5" name="Text 3"/>
          <p:cNvSpPr/>
          <p:nvPr/>
        </p:nvSpPr>
        <p:spPr>
          <a:xfrm>
            <a:off x="84124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6" name="Text 4"/>
          <p:cNvSpPr/>
          <p:nvPr/>
        </p:nvSpPr>
        <p:spPr>
          <a:xfrm>
            <a:off x="1463040" y="14447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레퍼런스 핸드북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7739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카드·도해·교차링크(검색형)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32588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0328" y="1554480"/>
            <a:ext cx="457200" cy="45720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0" name="Text 8"/>
          <p:cNvSpPr/>
          <p:nvPr/>
        </p:nvSpPr>
        <p:spPr>
          <a:xfrm>
            <a:off x="491032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1" name="Text 9"/>
          <p:cNvSpPr/>
          <p:nvPr/>
        </p:nvSpPr>
        <p:spPr>
          <a:xfrm>
            <a:off x="5532120" y="144475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퀴즈·진단 뱅크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532120" y="177393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연습 무제한 · 게이트는 다른 변형 · 자기진단은 정답 없음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237744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41248" y="2606040"/>
            <a:ext cx="457200" cy="45720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16" name="Text 14"/>
          <p:cNvSpPr/>
          <p:nvPr/>
        </p:nvSpPr>
        <p:spPr>
          <a:xfrm>
            <a:off x="1463040" y="24963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롤플레이·실천 카드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63040" y="28254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개발법·우화 기반 + 윤리 게이트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709160" y="237744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0328" y="2606040"/>
            <a:ext cx="457200" cy="45720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1032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1" name="Text 19"/>
          <p:cNvSpPr/>
          <p:nvPr/>
        </p:nvSpPr>
        <p:spPr>
          <a:xfrm>
            <a:off x="5532120" y="249631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자기진단·실천계획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32120" y="282549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18지표 + 상대약점 1개 + 실행의도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42900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41248" y="3657600"/>
            <a:ext cx="457200" cy="45720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25" name="Text 23"/>
          <p:cNvSpPr/>
          <p:nvPr/>
        </p:nvSpPr>
        <p:spPr>
          <a:xfrm>
            <a:off x="84124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6" name="Text 24"/>
          <p:cNvSpPr/>
          <p:nvPr/>
        </p:nvSpPr>
        <p:spPr>
          <a:xfrm>
            <a:off x="1463040" y="35478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캡스톤·인증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63040" y="38770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시나리오 + 행동 롤플레이 1회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09160" y="3429000"/>
            <a:ext cx="3886200" cy="91440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10328" y="3657600"/>
            <a:ext cx="457200" cy="457200"/>
          </a:xfrm>
          <a:prstGeom prst="ellipse">
            <a:avLst/>
          </a:prstGeom>
          <a:solidFill>
            <a:srgbClr val="2E5A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10328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31" name="Text 29"/>
          <p:cNvSpPr/>
          <p:nvPr/>
        </p:nvSpPr>
        <p:spPr>
          <a:xfrm>
            <a:off x="5532120" y="3547872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도해 패키지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532120" y="3877056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벤다이어그램·7유형·척도·개발법·다섯 함정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핵심(100%) · 게이트 80% · 스프린트 3영업일  →  인증 = 습관 시작  →  착근 3~4주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자기주도 여정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스프린트 3영업일 → 인증 = 습관 시작 → 착근 3~4주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66928" y="1965960"/>
            <a:ext cx="914400" cy="91440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개관·윤리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81328" y="2423160"/>
            <a:ext cx="155448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36776" y="1965960"/>
            <a:ext cx="914400" cy="914400"/>
          </a:xfrm>
          <a:prstGeom prst="ellipse">
            <a:avLst/>
          </a:prstGeom>
          <a:solidFill>
            <a:srgbClr val="B894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36776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45336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겸손 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51176" y="2423160"/>
            <a:ext cx="155448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06624" y="1965960"/>
            <a:ext cx="914400" cy="91440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06624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15184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갈망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21024" y="2423160"/>
            <a:ext cx="155448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76472" y="1965960"/>
            <a:ext cx="914400" cy="91440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76472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85032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영리함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90872" y="2423160"/>
            <a:ext cx="155448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46320" y="1965960"/>
            <a:ext cx="914400" cy="914400"/>
          </a:xfrm>
          <a:prstGeom prst="ellipse">
            <a:avLst/>
          </a:prstGeom>
          <a:solidFill>
            <a:srgbClr val="B8943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54880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7유형 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2423160"/>
            <a:ext cx="155448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16168" y="1965960"/>
            <a:ext cx="914400" cy="91440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916168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824728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자기진단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30568" y="2423160"/>
            <a:ext cx="155448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86016" y="1965960"/>
            <a:ext cx="914400" cy="914400"/>
          </a:xfrm>
          <a:prstGeom prst="ellipse">
            <a:avLst/>
          </a:prstGeom>
          <a:solidFill>
            <a:srgbClr val="1F3864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986016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94576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체화 실천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00416" y="2423160"/>
            <a:ext cx="155448" cy="0"/>
          </a:xfrm>
          <a:prstGeom prst="line">
            <a:avLst/>
          </a:prstGeom>
          <a:noFill/>
          <a:ln w="19050">
            <a:solidFill>
              <a:srgbClr val="5A65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55864" y="1965960"/>
            <a:ext cx="914400" cy="914400"/>
          </a:xfrm>
          <a:prstGeom prst="ellipse">
            <a:avLst/>
          </a:prstGeom>
          <a:solidFill>
            <a:srgbClr val="2E5A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055864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964424" y="2971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캡스톤·서명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3977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= 핵심 모듈(100% 통과 필요)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핵심(100%) · 게이트 80% · 스프린트 3영업일  →  인증 = 습관 시작  →  착근 3~4주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자기진단 미리보기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75488" y="877824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'동료들은 나를 어떻게 말할까?' 형식으로, 3단계 척도로 표시합니다.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426464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망설임 없이 칭찬하고 감사해한다. (겸손)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89320" y="14264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949440" y="14264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때때로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909560" y="14264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1938528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1993392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내 업무에서 요구되는 것 이상을 추구한다. (갈망)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8932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94944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때때로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909560" y="1993392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2505456"/>
            <a:ext cx="5212080" cy="457200"/>
          </a:xfrm>
          <a:prstGeom prst="roundRect">
            <a:avLst>
              <a:gd name="adj" fmla="val 16000"/>
            </a:avLst>
          </a:prstGeom>
          <a:solidFill>
            <a:srgbClr val="F2F4F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256032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나는 나의 행동이 동료에게 주는 영향을 잘 안다. (영리함)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989320" y="2560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언제나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949440" y="2560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때때로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909560" y="2560320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7863840" cy="1234440"/>
          </a:xfrm>
          <a:prstGeom prst="roundRect">
            <a:avLst>
              <a:gd name="adj" fmla="val 5926"/>
            </a:avLst>
          </a:prstGeom>
          <a:solidFill>
            <a:srgbClr val="FBF4E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3383280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측정의 한계 (정직 고지)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374904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자기진단(18 문장)은 정·오답·점수가 없습니다 — 성찰용입니다. 표시 후 본인의 상대적 약점 덕목 1개를 골라 개인 개발 초점으로 삼습니다.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2803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65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핵심(100%) · 게이트 80% · 스프린트 3영업일  →  인증 = 습관 시작  →  착근 3~4주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첫 단계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737360"/>
            <a:ext cx="566928" cy="566928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17190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 학습가이드 읽기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00200" y="206654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작동 방식(2단계)·자료 지도·윤리 5원칙을 먼저 확인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606040"/>
            <a:ext cx="566928" cy="566928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5877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킥오프 Q&amp;A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93522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온보딩 담당자와 짧은 오리엔테이션·질의응답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474720"/>
            <a:ext cx="566928" cy="566928"/>
          </a:xfrm>
          <a:prstGeom prst="ellipse">
            <a:avLst/>
          </a:prstGeom>
          <a:solidFill>
            <a:srgbClr val="B8943F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345643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시작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00200" y="380390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6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 플레이어·세 덕목 개관부터 자기주도로 출발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5262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894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인증을 통과하면 배운 행동을 바로 일상 협업에서 실천하세요. 인증은 완성이 아니라 출발선입니다.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팀워크 온보딩 오리엔테이션</dc:title>
  <dc:subject>PptxGenJS Presentation</dc:subject>
  <dc:creator>온보딩</dc:creator>
  <cp:lastModifiedBy>온보딩</cp:lastModifiedBy>
  <cp:revision>1</cp:revision>
  <dcterms:created xsi:type="dcterms:W3CDTF">2026-06-09T13:52:33Z</dcterms:created>
  <dcterms:modified xsi:type="dcterms:W3CDTF">2026-06-09T13:52:33Z</dcterms:modified>
</cp:coreProperties>
</file>