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팀워크 온보딩 학습 시스템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9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개편 제안 · 킥오프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8368" y="2880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이상적인 팀 플레이어(겸손 · 갈망 · 영리함) 기반 자기주도 온보딩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패트릭 렌시오니 《최고의 팀은 왜 기본에 충실한가》 기반 · 운영: 온보딩 담당자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 개편하나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7863840" cy="932688"/>
          </a:xfrm>
          <a:prstGeom prst="roundRect">
            <a:avLst>
              <a:gd name="adj" fmla="val 7843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45336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45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72768" y="144475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팀워크가 막연하게 방치됨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72768" y="1783080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입사자가 '좋은 팀워크'를 구체적 행동으로 배울 길이 마땅치 않다.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04872"/>
            <a:ext cx="7863840" cy="932688"/>
          </a:xfrm>
          <a:prstGeom prst="roundRect">
            <a:avLst>
              <a:gd name="adj" fmla="val 7843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624328"/>
            <a:ext cx="502920" cy="502920"/>
          </a:xfrm>
          <a:prstGeom prst="ellipse">
            <a:avLst/>
          </a:prstGeom>
          <a:solidFill>
            <a:srgbClr val="B8943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72768" y="2523744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온보딩에 드는 시간·체화의 막연함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572768" y="2862072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설명에 매번 적지 않은 시간(때로 "수십 시간")이 들고, 체화는 여전히 사람마다 들쭉날쭉하다.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483864"/>
            <a:ext cx="7863840" cy="932688"/>
          </a:xfrm>
          <a:prstGeom prst="roundRect">
            <a:avLst>
              <a:gd name="adj" fmla="val 7843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3703320"/>
            <a:ext cx="502920" cy="502920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72768" y="360273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적응 비용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572768" y="3941064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협업 마찰·재작업으로 새 구성원의 적응과 기여가 늦어진다.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이상적인 팀 플레이어 기반 온보딩 · 개편 제안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0" y="48463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59536" y="1554480"/>
            <a:ext cx="457200" cy="457200"/>
          </a:xfrm>
          <a:prstGeom prst="ellipse">
            <a:avLst/>
          </a:prstGeom>
          <a:solidFill>
            <a:srgbClr val="B8943F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144475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3계층 구조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→ 인식 → 행동으로 단계적 설계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28616" y="1554480"/>
            <a:ext cx="457200" cy="457200"/>
          </a:xfrm>
          <a:prstGeom prst="ellipse">
            <a:avLst/>
          </a:prstGeom>
          <a:solidFill>
            <a:srgbClr val="B8943F"/>
          </a:solidFill>
          <a:ln/>
        </p:spPr>
      </p:sp>
      <p:sp>
        <p:nvSpPr>
          <p:cNvPr id="10" name="Text 8"/>
          <p:cNvSpPr/>
          <p:nvPr/>
        </p:nvSpPr>
        <p:spPr>
          <a:xfrm>
            <a:off x="492861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32120" y="144475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학습과학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532120" y="1783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간격 반복 · 인출 연습 · 즉시·친절 피드백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404872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9536" y="2633472"/>
            <a:ext cx="457200" cy="457200"/>
          </a:xfrm>
          <a:prstGeom prst="ellipse">
            <a:avLst/>
          </a:prstGeom>
          <a:solidFill>
            <a:srgbClr val="B8943F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2523744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원본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463040" y="286207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정의·지표·개발법은 02 모델 마스터 하나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09160" y="2404872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28616" y="2633472"/>
            <a:ext cx="457200" cy="457200"/>
          </a:xfrm>
          <a:prstGeom prst="ellipse">
            <a:avLst/>
          </a:prstGeom>
          <a:solidFill>
            <a:srgbClr val="B8943F"/>
          </a:solidFill>
          <a:ln/>
        </p:spPr>
      </p:sp>
      <p:sp>
        <p:nvSpPr>
          <p:cNvPr id="20" name="Text 18"/>
          <p:cNvSpPr/>
          <p:nvPr/>
        </p:nvSpPr>
        <p:spPr>
          <a:xfrm>
            <a:off x="4928616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532120" y="2523744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 가드레일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532120" y="286207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자기개발 전용 · 낙인 금지 · 측정의 한계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483864"/>
            <a:ext cx="786384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59536" y="3712464"/>
            <a:ext cx="457200" cy="457200"/>
          </a:xfrm>
          <a:prstGeom prst="ellipse">
            <a:avLst/>
          </a:prstGeom>
          <a:solidFill>
            <a:srgbClr val="B8943F"/>
          </a:solidFill>
          <a:ln/>
        </p:spPr>
      </p:sp>
      <p:sp>
        <p:nvSpPr>
          <p:cNvPr id="25" name="Text 23"/>
          <p:cNvSpPr/>
          <p:nvPr/>
        </p:nvSpPr>
        <p:spPr>
          <a:xfrm>
            <a:off x="859536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63040" y="3602736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운영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463040" y="394106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스프린트(3영업일) → 착근(3~4주, 재인증)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이상적인 팀 플레이어 기반 온보딩 · 개편 제안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29600" y="48463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운영되나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75488" y="8686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학습자는 자기주도로 진행하고, 담당자는 핵심 순간에만 개입한다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학습가이드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103120" y="1371600"/>
            <a:ext cx="146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49424" y="137160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49424" y="1371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M1~M7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03904" y="1371600"/>
            <a:ext cx="146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50208" y="137160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50208" y="1371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자기진단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504688" y="1371600"/>
            <a:ext cx="146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50992" y="137160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50992" y="1371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캡스톤·인증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205472" y="1371600"/>
            <a:ext cx="146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51776" y="137160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51776" y="1371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착근 (Day+7·+21 재인증)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2377440"/>
            <a:ext cx="3886200" cy="18288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1248" y="25420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 담당자 개입 — 전체에서 2~3번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68680" y="2971800"/>
            <a:ext cx="146304" cy="146304"/>
          </a:xfrm>
          <a:prstGeom prst="ellipse">
            <a:avLst/>
          </a:prstGeom>
          <a:solidFill>
            <a:srgbClr val="B8943F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28986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킥오프 Q&amp;A  </a:t>
            </a:r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오리엔테이션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8680" y="3355848"/>
            <a:ext cx="146304" cy="146304"/>
          </a:xfrm>
          <a:prstGeom prst="ellipse">
            <a:avLst/>
          </a:prstGeom>
          <a:solidFill>
            <a:srgbClr val="B8943F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32826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확인  </a:t>
            </a:r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캡스톤·실천계획 검토·서명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68680" y="3739896"/>
            <a:ext cx="146304" cy="146304"/>
          </a:xfrm>
          <a:prstGeom prst="ellipse">
            <a:avLst/>
          </a:prstGeom>
          <a:solidFill>
            <a:srgbClr val="B8943F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366674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막힘 대응  </a:t>
            </a:r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질문·정서적 어려움 시 연결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17720" y="2377440"/>
            <a:ext cx="3886200" cy="18288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18888" y="25420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공정성·일관성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4846320" y="2999232"/>
            <a:ext cx="146304" cy="146304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입사자에게 동일 기준·게이트 적용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3383280"/>
            <a:ext cx="146304" cy="146304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33101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연습(무제한)·게이트(다른 변형)·자기진단(정답 없음) 분리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3767328"/>
            <a:ext cx="146304" cy="146304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33" name="Text 31"/>
          <p:cNvSpPr/>
          <p:nvPr/>
        </p:nvSpPr>
        <p:spPr>
          <a:xfrm>
            <a:off x="5074920" y="36941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반복은 시스템이, 판단·코칭은 담당자가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이상적인 팀 플레이어 기반 온보딩 · 개편 제안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229600" y="48463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→ After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886200" cy="3108960"/>
          </a:xfrm>
          <a:prstGeom prst="roundRect">
            <a:avLst>
              <a:gd name="adj" fmla="val 2353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8132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21214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막연한 구두 설명·자료 산재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670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반복 설명에 시간 과다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32186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체화가 사람마다 들쭉날쭉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7673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일관성·기준의 편차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70832" y="2697480"/>
            <a:ext cx="411480" cy="411480"/>
          </a:xfrm>
          <a:prstGeom prst="ellipse">
            <a:avLst/>
          </a:prstGeom>
          <a:solidFill>
            <a:srgbClr val="B8943F"/>
          </a:solidFill>
          <a:ln/>
        </p:spPr>
      </p:sp>
      <p:sp>
        <p:nvSpPr>
          <p:cNvPr id="14" name="Text 12"/>
          <p:cNvSpPr/>
          <p:nvPr/>
        </p:nvSpPr>
        <p:spPr>
          <a:xfrm>
            <a:off x="4370832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17720" y="1371600"/>
            <a:ext cx="3886200" cy="3108960"/>
          </a:xfrm>
          <a:prstGeom prst="roundRect">
            <a:avLst>
              <a:gd name="adj" fmla="val 2353"/>
            </a:avLst>
          </a:prstGeom>
          <a:solidFill>
            <a:srgbClr val="EFF4F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148132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92040" y="2103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66360" y="21214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구조화된 자기주도 학습 경로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92040" y="2651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66360" y="2670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개입은 핵심 2~3번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892040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66360" y="32186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실천 + 인증(출발선)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92040" y="3749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66360" y="37673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기준·게이트로 일관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이상적인 팀 플레이어 기반 온보딩 · 개편 제안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29600" y="48463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종전 교육과 신규 — 진화이지 부정이 아닙니다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75488" y="8686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부분은 남기고, 적용·체화를 만드는 과학을 더한다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886200" cy="2697480"/>
          </a:xfrm>
          <a:prstGeom prst="roundRect">
            <a:avLst>
              <a:gd name="adj" fmla="val 2712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종전 과정의 강점 (계승)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07008" y="2011680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숙독·핵심 정리로 개념을 이해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6700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67004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상황 대입 서술(적용적 사고)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32841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07008" y="3328416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퍼실리테이터 워크샵: 퀴즈·교차채점·토론(사회적 학습)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17720" y="1371600"/>
            <a:ext cx="3886200" cy="2697480"/>
          </a:xfrm>
          <a:prstGeom prst="roundRect">
            <a:avLst>
              <a:gd name="adj" fmla="val 2712"/>
            </a:avLst>
          </a:prstGeom>
          <a:solidFill>
            <a:srgbClr val="EFF4F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4630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신규가 더하는 것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2011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93792" y="201168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간격·반복 인출로 ‘체화’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92040" y="26700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93792" y="26700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실행의도·행동 리허설(현업 행동)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92040" y="332841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93792" y="332841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기준·자기주도 + 담당자 코칭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206240"/>
            <a:ext cx="7863840" cy="475488"/>
          </a:xfrm>
          <a:prstGeom prst="roundRect">
            <a:avLst>
              <a:gd name="adj" fmla="val 15385"/>
            </a:avLst>
          </a:prstGeom>
          <a:solidFill>
            <a:srgbClr val="FBF4E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20624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‘대체’가 아니라 ‘진화·결합’ — 종전의 좋은 부분은 계승하고, 적용·체화를 만드는 과학을 더한다.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이상적인 팀 플레이어 기반 온보딩 · 개편 제안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29600" y="48463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재정의 — ‘아는 것’에서 ‘하는 것’으로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75488" y="8686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적용·체화 = Kirkpatrick ‘행동(L3)’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64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29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4871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만족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395728" y="1938528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33472" y="155448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33472" y="1664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33472" y="2029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24912" y="24871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이해·지식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0" y="1938528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26864" y="155448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B8943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26864" y="1664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26864" y="2029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18304" y="24871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 행동·적용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82512" y="1938528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620256" y="155448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EFF4F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20256" y="1664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20256" y="2029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11696" y="24871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팀·사업 성과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1546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3218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종전 과정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7240" y="35295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‘학습(L2)’까지 잘 달성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17720" y="31546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BF4E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0" y="3218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시스템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754880" y="35295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‘행동(L3)=현업 적용·체화’를 겨냥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‘앎’이 곧 ‘함’은 아니다(knowing–doing gap). 평가도 ‘외움’이 아니라 ‘현업에서 그 행동을 하는가’로.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이상적인 팀 플레이어 기반 온보딩 · 개편 제안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229600" y="48463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‘체화’를 만드나 — 학습과학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75488" y="8686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전이를 만드는 메커니즘과 효과 크기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493776"/>
          </a:xfrm>
          <a:prstGeom prst="roundRect">
            <a:avLst>
              <a:gd name="adj" fmla="val 14815"/>
            </a:avLst>
          </a:prstGeom>
          <a:solidFill>
            <a:srgbClr val="FAFB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371600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실행의도 (if-then)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063240" y="1371600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의도를 구체적 행동으로 — 의도·행동 간극 축소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55080" y="1371600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d≈0.65 (Gollwitzer &amp; Sheeran, 2006)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938528"/>
            <a:ext cx="7863840" cy="493776"/>
          </a:xfrm>
          <a:prstGeom prst="roundRect">
            <a:avLst>
              <a:gd name="adj" fmla="val 14815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938528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인출 (시험 효과)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063240" y="1938528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‘외움’이 아니라 꺼내 쓰는 연습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55080" y="1938528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g≈0.50 · 전이 0.40 (Rowland 2014; Pan &amp; Rickard 2018)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505456"/>
            <a:ext cx="7863840" cy="493776"/>
          </a:xfrm>
          <a:prstGeom prst="roundRect">
            <a:avLst>
              <a:gd name="adj" fmla="val 14815"/>
            </a:avLst>
          </a:prstGeom>
          <a:solidFill>
            <a:srgbClr val="FAFB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2505456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간격 반복 (spacing)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63240" y="2505456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시간을 두고 다시 — 지속 기억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55080" y="2505456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g≈0.28+ (영역 의존)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072384"/>
            <a:ext cx="7863840" cy="493776"/>
          </a:xfrm>
          <a:prstGeom prst="roundRect">
            <a:avLst>
              <a:gd name="adj" fmla="val 14815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072384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능동 학습 &gt; 수동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63240" y="3072384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읽기·듣기보다 ‘함’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55080" y="3072384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+0.47 SD · 실패 ~1.5배↓ (Freeman 외, 2014)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639312"/>
            <a:ext cx="7863840" cy="493776"/>
          </a:xfrm>
          <a:prstGeom prst="roundRect">
            <a:avLst>
              <a:gd name="adj" fmla="val 14815"/>
            </a:avLst>
          </a:prstGeom>
          <a:solidFill>
            <a:srgbClr val="FAFB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3639312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리허설 (롤플레이)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063240" y="3639312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대인 기술은 말이 아니라 연습으로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55080" y="3639312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대조군 대비 ≈1.0+ SD (Taylor 외, 2005)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2793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메커니즘에 대한 근거이며, 모델 자체의 검증은 별개입니다.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이상적인 팀 플레이어 기반 온보딩 · 개편 제안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29600" y="48463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종전 요소 → 과학의 평가 → 신규 보강</a:t>
            </a:r>
            <a:endParaRPr lang="en-US" sz="2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78638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0040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종전 요소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과학의 평가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보강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숙독·재독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유창성 착각 — 전이는 약함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짧게 읽고 바로 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암기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앎≠함 — ‘학습(L2)’에 머묾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이해+습관, 목표=행동(L3)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 상황 서술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좋음(자기참조·적용)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실행의도(if-then)로 격상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워크샵 퀴즈(1회)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인출은 강력하나 1회성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간격·반복·변형으로 확장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교차채점·토론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사회적 학습으로 가치 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행동 리허설 추가(일부 계승)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현업 적용 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(종전 약함) 전이는 맥락에서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3~4주 착근 + 재인증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46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이상적인 팀 플레이어 기반 온보딩 · 개편 제안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8229600" y="48463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과정 비교 — 계승하고 보강한다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75488" y="8686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◎ 강함 · ○ 보통 · △ 약함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78638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3291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 이해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◎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◎ (계승)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암기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◎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 (이해 중심으로 전환)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상황 적용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◎ (실행의도)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반복·간격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◎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행동 리허설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(토론)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◎ (롤플레이)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현업 착근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◎ (착근기·재인증)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일관성·확장성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(퍼실리테이터 의존)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◎ (자기주도·동일 기준)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46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이상적인 팀 플레이어 기반 온보딩 · 개편 제안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229600" y="48463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계승하나 — 그리고 정직한 한계·측정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886200" cy="2697480"/>
          </a:xfrm>
          <a:prstGeom prst="roundRect">
            <a:avLst>
              <a:gd name="adj" fmla="val 2712"/>
            </a:avLst>
          </a:prstGeom>
          <a:solidFill>
            <a:srgbClr val="EFF4F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계승하는 것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298448" y="196596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토론·교차 관점(사회적 학습)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96312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98448" y="249631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상황 적용 서술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026664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98448" y="302666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퍼실리테이터 → 담당자 코칭으로 진화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557016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298448" y="355701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(옵션) 가벼운 토론 1회 유지 가능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1371600"/>
            <a:ext cx="3886200" cy="2697480"/>
          </a:xfrm>
          <a:prstGeom prst="roundRect">
            <a:avLst>
              <a:gd name="adj" fmla="val 2712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14630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정직한 한계 · 측정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196596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9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93792" y="1965960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우리 회사 실증 전 — 메커니즘·일반 문헌 근거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62432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9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93792" y="2624328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비교는 ‘인성 점수’ 아님 → 행동·적용·사업 대리 지표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28269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9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93792" y="3282696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파일럿(대조군/시차)으로 검증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206240"/>
            <a:ext cx="7863840" cy="475488"/>
          </a:xfrm>
          <a:prstGeom prst="roundRect">
            <a:avLst>
              <a:gd name="adj" fmla="val 15385"/>
            </a:avLst>
          </a:prstGeom>
          <a:solidFill>
            <a:srgbClr val="FBF4E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420624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과대주장하지 않는다 — 좋은 부분을 계승하고, 효과는 파일럿으로 확인한다.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이상적인 팀 플레이어 기반 온보딩 · 개편 제안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29600" y="48463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무엇에 기반하나 — 모델 완전성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62763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겸손·갈망·영리함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51760" y="146304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62763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89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265176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행동지표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6·6·6 정본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62763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466344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우화 포함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75120" y="146304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162763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667512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 원칙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구조로 강제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566160"/>
            <a:ext cx="7863840" cy="868680"/>
          </a:xfrm>
          <a:prstGeom prst="roundRect">
            <a:avLst>
              <a:gd name="adj" fmla="val 8421"/>
            </a:avLst>
          </a:prstGeom>
          <a:solidFill>
            <a:srgbClr val="FBF4E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369417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출처 · 통제 어휘 잠금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404164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패트릭 렌시오니의 책 한 권을 정본으로 삼고, 3덕목·7유형·3척도 외 새 명칭을 만들지 않는다. 영리함은 IQ가 아니라 대인관계 영리함이다.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이상적인 팀 플레이어 기반 온보딩 · 개편 제안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29600" y="48463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365로 운영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4592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63677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SharePoint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96112" y="2167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포털·레퍼런스 핸드북·페이지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55848" y="141732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84448" y="164592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358444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78808" y="163677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611880" y="2167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퀴즈·게이트·자기진단 입력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71616" y="141732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0216" y="164592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5" name="Text 13"/>
          <p:cNvSpPr/>
          <p:nvPr/>
        </p:nvSpPr>
        <p:spPr>
          <a:xfrm>
            <a:off x="630021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94576" y="163677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Power Automate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327648" y="2167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판정·알림·인증 흐름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283464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306324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305409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96112" y="3584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마스터·진도 기록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55848" y="283464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584448" y="306324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5" name="Text 23"/>
          <p:cNvSpPr/>
          <p:nvPr/>
        </p:nvSpPr>
        <p:spPr>
          <a:xfrm>
            <a:off x="3584448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78808" y="305409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Viva Learning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611880" y="3584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과정·모듈 배포·진도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71616" y="283464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0216" y="306324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0" name="Text 28"/>
          <p:cNvSpPr/>
          <p:nvPr/>
        </p:nvSpPr>
        <p:spPr>
          <a:xfrm>
            <a:off x="6300216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94576" y="305409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Power BI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327648" y="3584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참여·지식·인식 대시보드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O365 네이티브 — 신규 외부 도구 없이 사내 표준 안에서 구축한다.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이상적인 팀 플레이어 기반 온보딩 · 개편 제안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229600" y="48463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계획 — 린 스타트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75488" y="8686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기능부터 띄우고, 검증하며 확장한다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7863840" cy="475488"/>
          </a:xfrm>
          <a:prstGeom prst="roundRect">
            <a:avLst>
              <a:gd name="adj" fmla="val 15385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554480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517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기능(MVP)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15179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핸드북 + 자기진단 + M1·M2를 먼저 운영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029968"/>
            <a:ext cx="7863840" cy="475488"/>
          </a:xfrm>
          <a:prstGeom prst="roundRect">
            <a:avLst>
              <a:gd name="adj" fmla="val 15385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2121408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121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2084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게이트·퀴즈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20848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Forms·Power Automate로 채점·게이트 판정 추가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596896"/>
            <a:ext cx="7863840" cy="475488"/>
          </a:xfrm>
          <a:prstGeom prst="roundRect">
            <a:avLst>
              <a:gd name="adj" fmla="val 15385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2688336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2688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롤플레이·캡스톤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0" y="2651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연습·통합 시나리오·인증 완성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163824"/>
            <a:ext cx="7863840" cy="475488"/>
          </a:xfrm>
          <a:prstGeom prst="roundRect">
            <a:avLst>
              <a:gd name="adj" fmla="val 15385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3255264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32186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0" y="32186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Power BI로 참여·지식·인식 측정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3730752"/>
            <a:ext cx="7863840" cy="475488"/>
          </a:xfrm>
          <a:prstGeom prst="roundRect">
            <a:avLst>
              <a:gd name="adj" fmla="val 15385"/>
            </a:avLst>
          </a:prstGeom>
          <a:solidFill>
            <a:srgbClr val="FBF4E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3822192"/>
            <a:ext cx="310896" cy="310896"/>
          </a:xfrm>
          <a:prstGeom prst="ellipse">
            <a:avLst/>
          </a:prstGeom>
          <a:solidFill>
            <a:srgbClr val="B8943F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37856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튜터 (나중)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114800" y="37856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토대 검증 후 4조건 충족 시 도입 검토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이상적인 팀 플레이어 기반 온보딩 · 개편 제안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229600" y="48463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역할별로 무엇이 달라지나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96112" y="1645920"/>
            <a:ext cx="502920" cy="502920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5727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 빌더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96112" y="212140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O365 구성·자동화 구현(Forms·Automate·Lists·Power BI)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65192" y="164592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5623560" y="15727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 책임자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965192" y="212140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권한·거버넌스·버전 관리·데이터 보호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3200400"/>
            <a:ext cx="502920" cy="502920"/>
          </a:xfrm>
          <a:prstGeom prst="ellipse">
            <a:avLst/>
          </a:prstGeom>
          <a:solidFill>
            <a:srgbClr val="B8943F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31272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 담당자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96112" y="367588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"반복은 시스템에, 판단·코칭은 나에게" — 핵심 순간에 집중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926080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65192" y="3200400"/>
            <a:ext cx="502920" cy="50292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7" name="Text 15"/>
          <p:cNvSpPr/>
          <p:nvPr/>
        </p:nvSpPr>
        <p:spPr>
          <a:xfrm>
            <a:off x="5623560" y="31272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부서장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965192" y="367588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 협업과 실천 연계·강화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이상적인 팀 플레이어 기반 온보딩 · 개편 제안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로드맵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77240" y="2011680"/>
            <a:ext cx="914400" cy="9144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설계·콘텐츠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576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모델·핸드북·퀴즈·도해 정비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91640" y="2468880"/>
            <a:ext cx="1143000" cy="0"/>
          </a:xfrm>
          <a:prstGeom prst="line">
            <a:avLst/>
          </a:prstGeom>
          <a:noFill/>
          <a:ln w="19050">
            <a:solidFill>
              <a:srgbClr val="5A65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2011680"/>
            <a:ext cx="914400" cy="914400"/>
          </a:xfrm>
          <a:prstGeom prst="ellipse">
            <a:avLst/>
          </a:prstGeom>
          <a:solidFill>
            <a:srgbClr val="B8943F"/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51460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2316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 코호트로 운영·관찰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49040" y="2468880"/>
            <a:ext cx="1143000" cy="0"/>
          </a:xfrm>
          <a:prstGeom prst="line">
            <a:avLst/>
          </a:prstGeom>
          <a:noFill/>
          <a:ln w="19050">
            <a:solidFill>
              <a:srgbClr val="5A65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011680"/>
            <a:ext cx="914400" cy="914400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측정·보정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48056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통과·참여·피드백 분석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06440" y="2468880"/>
            <a:ext cx="1143000" cy="0"/>
          </a:xfrm>
          <a:prstGeom prst="line">
            <a:avLst/>
          </a:prstGeom>
          <a:noFill/>
          <a:ln w="19050">
            <a:solidFill>
              <a:srgbClr val="5A657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2011680"/>
            <a:ext cx="914400" cy="91440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2940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확대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3796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온보딩으로 적용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기준은 날짜가 아니라 인증 통과 — 일정은 코호트 운영에 맞춰 조정한다.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이상적인 팀 플레이어 기반 온보딩 · 개편 제안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29600" y="48463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튜터는 언제 — 4조건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75488" y="8686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토대만 갖춘다. 도입은 검증 후.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67335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원본 그라운딩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213055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모델 마스터에만 근거해 답한다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65192" y="167335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4965192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77840" y="1600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 가드레일 구조화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65192" y="213055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낙인 금지·심리치료 아님·연결 안내 내장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88036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313639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063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측정의 한계 준수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96112" y="35935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'겸손/인성 점수'를 만들지 않는다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65192" y="313639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1" name="Text 19"/>
          <p:cNvSpPr/>
          <p:nvPr/>
        </p:nvSpPr>
        <p:spPr>
          <a:xfrm>
            <a:off x="4965192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577840" y="3063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신호 검증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965192" y="35935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신호가 성과를 예측하는지 확인 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조건을 모두 충족하기 전에는 AI 튜터를 켜지 않는다.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이상적인 팀 플레이어 기반 온보딩 · 개편 제안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29600" y="48463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윤리·측정의 약속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329184" cy="32918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25880" y="13350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자기개발 전용 · 실재 동료에게 유형 꼬리표를 붙이지 않는다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329184" cy="32918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88366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기반 · 심리치료가 아니며, 정서적 어려움은 담당자/HR로 연결한다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2468880"/>
            <a:ext cx="329184" cy="32918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43230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측정의 한계 · 사람의 '겸손/인성 점수'를 산출·시각화하지 않는다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017520"/>
            <a:ext cx="329184" cy="32918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98094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비교·공개 신중 · 공개 등수·망신 금지, 피드백은 옵트인·친절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3566160"/>
            <a:ext cx="329184" cy="32918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52958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= 출발선 · '완벽'이 아니라 '습관을 시작할 준비'를 인증한다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160520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FBF4E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422452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시, 이 다섯 가지 윤리·측정 원칙을 시스템 운영 원칙으로 함께 채택합니다.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이상적인 팀 플레이어 기반 온보딩 · 개편 제안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0" y="48463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rgbClr val="B8943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15819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시간 절감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63040" y="192938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설명을 시스템이 맡아 핵심 코칭에 집중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350008"/>
            <a:ext cx="457200" cy="457200"/>
          </a:xfrm>
          <a:prstGeom prst="ellipse">
            <a:avLst/>
          </a:prstGeom>
          <a:solidFill>
            <a:srgbClr val="B8943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331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일관된 팀워크 기준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63040" y="26791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입사자가 같은 덕목·행동 언어를 공유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099816"/>
            <a:ext cx="457200" cy="457200"/>
          </a:xfrm>
          <a:prstGeom prst="ellipse">
            <a:avLst/>
          </a:prstGeom>
          <a:solidFill>
            <a:srgbClr val="B8943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0815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적응·협업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63040" y="3429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실천과 인증으로 초기 마찰·재작업 감소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3849624"/>
            <a:ext cx="457200" cy="457200"/>
          </a:xfrm>
          <a:prstGeom prst="ellipse">
            <a:avLst/>
          </a:prstGeom>
          <a:solidFill>
            <a:srgbClr val="B8943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83133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개선되는 데이터 루프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63040" y="41788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초기 신호가 성과를 예측하는지 점진 검증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4617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막연한 팀워크를, 배우고 연습하고 실천하는 습관으로.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팀워크 온보딩 학습 시스템 — 개편 제안</dc:title>
  <dc:subject>PptxGenJS Presentation</dc:subject>
  <dc:creator>온보딩</dc:creator>
  <cp:lastModifiedBy>온보딩</cp:lastModifiedBy>
  <cp:revision>1</cp:revision>
  <dcterms:created xsi:type="dcterms:W3CDTF">2026-06-11T00:52:59Z</dcterms:created>
  <dcterms:modified xsi:type="dcterms:W3CDTF">2026-06-11T00:52:59Z</dcterms:modified>
</cp:coreProperties>
</file>